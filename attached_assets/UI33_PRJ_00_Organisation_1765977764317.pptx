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9"/>
  </p:notesMasterIdLst>
  <p:handoutMasterIdLst>
    <p:handoutMasterId r:id="rId20"/>
  </p:handoutMasterIdLst>
  <p:sldIdLst>
    <p:sldId id="263" r:id="rId2"/>
    <p:sldId id="264" r:id="rId3"/>
    <p:sldId id="266" r:id="rId4"/>
    <p:sldId id="278" r:id="rId5"/>
    <p:sldId id="270" r:id="rId6"/>
    <p:sldId id="271" r:id="rId7"/>
    <p:sldId id="268" r:id="rId8"/>
    <p:sldId id="272" r:id="rId9"/>
    <p:sldId id="273" r:id="rId10"/>
    <p:sldId id="269" r:id="rId11"/>
    <p:sldId id="275" r:id="rId12"/>
    <p:sldId id="276" r:id="rId13"/>
    <p:sldId id="277" r:id="rId14"/>
    <p:sldId id="279" r:id="rId15"/>
    <p:sldId id="280" r:id="rId16"/>
    <p:sldId id="274" r:id="rId17"/>
    <p:sldId id="262" r:id="rId18"/>
  </p:sldIdLst>
  <p:sldSz cx="12192000" cy="6858000"/>
  <p:notesSz cx="6858000" cy="9144000"/>
  <p:custDataLst>
    <p:tags r:id="rId2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0B7"/>
    <a:srgbClr val="73A5D8"/>
    <a:srgbClr val="E4E9EF"/>
    <a:srgbClr val="677D91"/>
    <a:srgbClr val="303B4A"/>
    <a:srgbClr val="5E7594"/>
    <a:srgbClr val="E6E6E6"/>
    <a:srgbClr val="7B7CB1"/>
    <a:srgbClr val="A6A7DA"/>
    <a:srgbClr val="2F3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7" autoAdjust="0"/>
    <p:restoredTop sz="83819" autoAdjust="0"/>
  </p:normalViewPr>
  <p:slideViewPr>
    <p:cSldViewPr>
      <p:cViewPr varScale="1">
        <p:scale>
          <a:sx n="95" d="100"/>
          <a:sy n="95" d="100"/>
        </p:scale>
        <p:origin x="116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B2FAC35-9DA9-4079-BE9E-153EC71AF36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/>
              <a:t>Cliquez pour modifier les styles du texte</a:t>
            </a:r>
          </a:p>
          <a:p>
            <a:pPr lvl="1"/>
            <a:r>
              <a:rPr lang="fr-FR" altLang="fr-FR" noProof="0"/>
              <a:t>Deuxième niveau</a:t>
            </a:r>
          </a:p>
          <a:p>
            <a:pPr lvl="2"/>
            <a:r>
              <a:rPr lang="fr-FR" altLang="fr-FR" noProof="0"/>
              <a:t>Troisième niveau</a:t>
            </a:r>
          </a:p>
          <a:p>
            <a:pPr lvl="3"/>
            <a:r>
              <a:rPr lang="fr-FR" altLang="fr-FR" noProof="0"/>
              <a:t>Quatrième niveau</a:t>
            </a:r>
          </a:p>
          <a:p>
            <a:pPr lvl="4"/>
            <a:r>
              <a:rPr lang="fr-FR" altLang="fr-FR" noProof="0"/>
              <a:t>Cinquième niveau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1FB3181-CDCA-4600-A27B-6176376C7F8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B3181-CDCA-4600-A27B-6176376C7F83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0691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56A45648-776B-42B2-B40E-D4B86705BB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608138" y="800100"/>
            <a:ext cx="3938587" cy="22161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D542C7B3-10A5-49CE-AA81-0BC8A50FB4D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395288" y="3351213"/>
            <a:ext cx="6308725" cy="582453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Respectez un temps de parole équitable entre les personnels du groupe. Pensez à répéter votre intervention, c’est un jeu de rôle.</a:t>
            </a:r>
          </a:p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Portez une attention particulière à votre présentation (ppt) et à votre tenue vestimentaire. Les apriori sont souvent déterminant dans le jugement final.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10DEB7A5-FA44-4B70-9B5B-0A1F716A4C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608138" y="800100"/>
            <a:ext cx="3938587" cy="22161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2162496C-6336-497E-AD84-7C26CEB1F3F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395288" y="3351213"/>
            <a:ext cx="6308725" cy="582453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Tous les cadres qui assisteront à la restitution ne connaissent pas la teneur du projet, il est donc primordial de </a:t>
            </a:r>
            <a:r>
              <a:rPr lang="fr-FR" altLang="fr-FR" sz="1400" b="1">
                <a:latin typeface="Times New Roman" panose="02020603050405020304" pitchFamily="18" charset="0"/>
                <a:cs typeface="WenQuanYi Micro Hei" charset="0"/>
              </a:rPr>
              <a:t>situer le contexte </a:t>
            </a: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et de détailler le </a:t>
            </a:r>
            <a:r>
              <a:rPr lang="fr-FR" altLang="fr-FR" sz="1400" b="1">
                <a:latin typeface="Times New Roman" panose="02020603050405020304" pitchFamily="18" charset="0"/>
                <a:cs typeface="WenQuanYi Micro Hei" charset="0"/>
              </a:rPr>
              <a:t>domaine fonctionnel</a:t>
            </a: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Mettez en avant votre </a:t>
            </a:r>
            <a:r>
              <a:rPr lang="fr-FR" altLang="fr-FR" sz="1400" b="1">
                <a:latin typeface="Times New Roman" panose="02020603050405020304" pitchFamily="18" charset="0"/>
                <a:cs typeface="WenQuanYi Micro Hei" charset="0"/>
              </a:rPr>
              <a:t>organisation</a:t>
            </a: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 et les </a:t>
            </a:r>
            <a:r>
              <a:rPr lang="fr-FR" altLang="fr-FR" sz="1400" b="1">
                <a:latin typeface="Times New Roman" panose="02020603050405020304" pitchFamily="18" charset="0"/>
                <a:cs typeface="WenQuanYi Micro Hei" charset="0"/>
              </a:rPr>
              <a:t>moyens de votre collaboration </a:t>
            </a: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(rôles, outils, ateliers agiles…).</a:t>
            </a:r>
          </a:p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altLang="fr-FR" sz="1400" b="1">
                <a:latin typeface="Times New Roman" panose="02020603050405020304" pitchFamily="18" charset="0"/>
                <a:cs typeface="WenQuanYi Micro Hei" charset="0"/>
              </a:rPr>
              <a:t>Portez une attention particulière à la maquette </a:t>
            </a:r>
            <a:r>
              <a:rPr lang="fr-FR" altLang="fr-FR" sz="1400">
                <a:latin typeface="Times New Roman" panose="02020603050405020304" pitchFamily="18" charset="0"/>
                <a:cs typeface="WenQuanYi Micro Hei" charset="0"/>
              </a:rPr>
              <a:t>puisque c’est le moyen pour le fonctionnel de se projeter, d’imaginer son futur SI.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B3181-CDCA-4600-A27B-6176376C7F83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3303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rde géné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0" y="4522573"/>
            <a:ext cx="12192000" cy="648677"/>
          </a:xfrm>
          <a:prstGeom prst="rect">
            <a:avLst/>
          </a:prstGeom>
        </p:spPr>
        <p:txBody>
          <a:bodyPr/>
          <a:lstStyle>
            <a:lvl1pPr algn="ctr">
              <a:defRPr sz="4000" baseline="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401252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m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784390" y="145561"/>
            <a:ext cx="9407610" cy="648677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</p:nvPr>
        </p:nvSpPr>
        <p:spPr>
          <a:xfrm>
            <a:off x="354227" y="1013254"/>
            <a:ext cx="11475308" cy="53463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Modifier le texte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1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D7E5F6A1-8C86-4E9B-9A95-D8C6779BB298}" type="datetime1">
              <a:rPr lang="fr-FR" smtClean="0"/>
              <a:pPr/>
              <a:t>08/12/2025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3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88CBE9E5-AEA7-490C-B97F-F2FDFE8382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787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57615" y="101514"/>
            <a:ext cx="9362304" cy="6563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B7CBFC64-A97E-44F4-9724-9D78352BA325}" type="datetime1">
              <a:rPr lang="fr-FR" smtClean="0"/>
              <a:pPr/>
              <a:t>08/12/2025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88CBE9E5-AEA7-490C-B97F-F2FDFE8382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>
          <a:xfrm>
            <a:off x="338138" y="989013"/>
            <a:ext cx="5610225" cy="53371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contenu 6"/>
          <p:cNvSpPr>
            <a:spLocks noGrp="1"/>
          </p:cNvSpPr>
          <p:nvPr>
            <p:ph sz="quarter" idx="14"/>
          </p:nvPr>
        </p:nvSpPr>
        <p:spPr>
          <a:xfrm>
            <a:off x="6232311" y="989013"/>
            <a:ext cx="5610225" cy="53371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64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39346" y="127952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429000"/>
            <a:ext cx="12192000" cy="714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Modifier le sous-titre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1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1764F607-5A5E-45F3-9D89-8FEA47D10F86}" type="datetime1">
              <a:rPr lang="fr-FR" smtClean="0"/>
              <a:pPr/>
              <a:t>08/12/2025</a:t>
            </a:fld>
            <a:endParaRPr lang="fr-FR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2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3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88CBE9E5-AEA7-490C-B97F-F2FDFE8382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650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positive de 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71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33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de cursus UI33</a:t>
            </a:r>
            <a:br>
              <a:rPr lang="fr-FR" dirty="0"/>
            </a:br>
            <a:r>
              <a:rPr lang="fr-FR" dirty="0"/>
              <a:t>Assistant Tactique Intelligent</a:t>
            </a:r>
            <a:br>
              <a:rPr lang="fr-FR" dirty="0"/>
            </a:br>
            <a:r>
              <a:rPr lang="fr-FR" dirty="0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33387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Version/date/mo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988888"/>
              </p:ext>
            </p:extLst>
          </p:nvPr>
        </p:nvGraphicFramePr>
        <p:xfrm>
          <a:off x="768772" y="4067369"/>
          <a:ext cx="10562204" cy="2410297"/>
        </p:xfrm>
        <a:graphic>
          <a:graphicData uri="http://schemas.openxmlformats.org/drawingml/2006/table">
            <a:tbl>
              <a:tblPr/>
              <a:tblGrid>
                <a:gridCol w="120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4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538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Version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MOTIF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19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</a:rPr>
                        <a:t>11/09/2025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68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61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11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Statu de vers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24773"/>
              </p:ext>
            </p:extLst>
          </p:nvPr>
        </p:nvGraphicFramePr>
        <p:xfrm>
          <a:off x="767408" y="1196752"/>
          <a:ext cx="10563568" cy="2614150"/>
        </p:xfrm>
        <a:graphic>
          <a:graphicData uri="http://schemas.openxmlformats.org/drawingml/2006/table">
            <a:tbl>
              <a:tblPr/>
              <a:tblGrid>
                <a:gridCol w="457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75"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8123" marR="98123" marT="54151" marB="54151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800" dirty="0">
                          <a:solidFill>
                            <a:srgbClr val="0C70B7"/>
                          </a:solidFill>
                        </a:rPr>
                        <a:t>Statut de version</a:t>
                      </a:r>
                      <a:endParaRPr kumimoji="0" lang="fr-FR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75">
                <a:tc>
                  <a:txBody>
                    <a:bodyPr/>
                    <a:lstStyle/>
                    <a:p>
                      <a:pPr marL="0" marR="0" lvl="0" indent="0" algn="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Rédacteur(s) ou responsable de cours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</a:rPr>
                        <a:t>LCL HENRIET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75">
                <a:tc>
                  <a:txBody>
                    <a:bodyPr/>
                    <a:lstStyle/>
                    <a:p>
                      <a:pPr marL="0" marR="0" lvl="0" indent="0" algn="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Validation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</a:rPr>
                        <a:t>LCL HENRIET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75">
                <a:tc>
                  <a:txBody>
                    <a:bodyPr/>
                    <a:lstStyle/>
                    <a:p>
                      <a:pPr marL="0" marR="0" lvl="0" indent="0" algn="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Approbation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75">
                <a:tc>
                  <a:txBody>
                    <a:bodyPr/>
                    <a:lstStyle/>
                    <a:p>
                      <a:pPr marL="0" marR="0" lvl="0" indent="0" algn="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C70B7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Annule et remplace</a:t>
                      </a: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303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C70B7"/>
                        </a:solidFill>
                        <a:effectLst/>
                        <a:latin typeface="Arial" charset="0"/>
                      </a:endParaRPr>
                    </a:p>
                  </a:txBody>
                  <a:tcPr marL="98123" marR="98123" marT="54151" marB="5415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59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</a:t>
            </a:r>
          </a:p>
        </p:txBody>
      </p:sp>
      <p:grpSp>
        <p:nvGrpSpPr>
          <p:cNvPr id="4" name="3"/>
          <p:cNvGrpSpPr/>
          <p:nvPr/>
        </p:nvGrpSpPr>
        <p:grpSpPr>
          <a:xfrm>
            <a:off x="2708632" y="3708340"/>
            <a:ext cx="6465686" cy="923330"/>
            <a:chOff x="2708632" y="3708340"/>
            <a:chExt cx="6465686" cy="923330"/>
          </a:xfrm>
        </p:grpSpPr>
        <p:sp>
          <p:nvSpPr>
            <p:cNvPr id="5" name="Titre 3"/>
            <p:cNvSpPr/>
            <p:nvPr/>
          </p:nvSpPr>
          <p:spPr bwMode="auto">
            <a:xfrm>
              <a:off x="3452800" y="3873186"/>
              <a:ext cx="5721518" cy="710585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800" b="1" dirty="0">
                  <a:solidFill>
                    <a:schemeClr val="bg1"/>
                  </a:solidFill>
                </a:rPr>
                <a:t> </a:t>
              </a: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ATTENDUS</a:t>
              </a:r>
            </a:p>
          </p:txBody>
        </p:sp>
        <p:sp>
          <p:nvSpPr>
            <p:cNvPr id="6" name="3"/>
            <p:cNvSpPr/>
            <p:nvPr/>
          </p:nvSpPr>
          <p:spPr>
            <a:xfrm>
              <a:off x="2708632" y="3708340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3</a:t>
              </a:r>
            </a:p>
          </p:txBody>
        </p:sp>
      </p:grpSp>
      <p:grpSp>
        <p:nvGrpSpPr>
          <p:cNvPr id="7" name="2"/>
          <p:cNvGrpSpPr/>
          <p:nvPr/>
        </p:nvGrpSpPr>
        <p:grpSpPr>
          <a:xfrm>
            <a:off x="2708632" y="2784726"/>
            <a:ext cx="6465686" cy="923330"/>
            <a:chOff x="2708632" y="2784726"/>
            <a:chExt cx="6465686" cy="923330"/>
          </a:xfrm>
        </p:grpSpPr>
        <p:sp>
          <p:nvSpPr>
            <p:cNvPr id="8" name="Titre 2"/>
            <p:cNvSpPr/>
            <p:nvPr/>
          </p:nvSpPr>
          <p:spPr bwMode="auto">
            <a:xfrm>
              <a:off x="3452800" y="2969335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 ORGANISATION</a:t>
              </a:r>
            </a:p>
          </p:txBody>
        </p:sp>
        <p:sp>
          <p:nvSpPr>
            <p:cNvPr id="9" name="2"/>
            <p:cNvSpPr/>
            <p:nvPr/>
          </p:nvSpPr>
          <p:spPr>
            <a:xfrm>
              <a:off x="2708632" y="278472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2</a:t>
              </a:r>
            </a:p>
          </p:txBody>
        </p:sp>
      </p:grpSp>
      <p:grpSp>
        <p:nvGrpSpPr>
          <p:cNvPr id="10" name="1"/>
          <p:cNvGrpSpPr/>
          <p:nvPr/>
        </p:nvGrpSpPr>
        <p:grpSpPr>
          <a:xfrm>
            <a:off x="2708632" y="1845258"/>
            <a:ext cx="6465687" cy="923330"/>
            <a:chOff x="493913" y="1054806"/>
            <a:chExt cx="6465687" cy="923330"/>
          </a:xfrm>
        </p:grpSpPr>
        <p:sp>
          <p:nvSpPr>
            <p:cNvPr id="11" name="Rectangle à coins arrondis 10"/>
            <p:cNvSpPr/>
            <p:nvPr/>
          </p:nvSpPr>
          <p:spPr bwMode="auto">
            <a:xfrm>
              <a:off x="1238082" y="1227240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eaLnBrk="1" fontAlgn="base" hangingPunct="1">
                <a:lnSpc>
                  <a:spcPct val="90000"/>
                </a:lnSpc>
                <a:spcAft>
                  <a:spcPct val="0"/>
                </a:spcAft>
                <a:buClrTx/>
                <a:buSzTx/>
                <a:tabLst/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OBJECTIFS</a:t>
              </a:r>
            </a:p>
          </p:txBody>
        </p:sp>
        <p:sp>
          <p:nvSpPr>
            <p:cNvPr id="12" name="1"/>
            <p:cNvSpPr/>
            <p:nvPr/>
          </p:nvSpPr>
          <p:spPr>
            <a:xfrm>
              <a:off x="493913" y="105480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30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</a:t>
            </a:r>
          </a:p>
        </p:txBody>
      </p:sp>
      <p:grpSp>
        <p:nvGrpSpPr>
          <p:cNvPr id="4" name="3"/>
          <p:cNvGrpSpPr/>
          <p:nvPr/>
        </p:nvGrpSpPr>
        <p:grpSpPr>
          <a:xfrm>
            <a:off x="2708632" y="3708340"/>
            <a:ext cx="6465686" cy="923330"/>
            <a:chOff x="2708632" y="3708340"/>
            <a:chExt cx="6465686" cy="923330"/>
          </a:xfrm>
        </p:grpSpPr>
        <p:sp>
          <p:nvSpPr>
            <p:cNvPr id="5" name="Titre 3"/>
            <p:cNvSpPr/>
            <p:nvPr/>
          </p:nvSpPr>
          <p:spPr bwMode="auto">
            <a:xfrm>
              <a:off x="3452800" y="3873186"/>
              <a:ext cx="5721518" cy="710585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800" b="1" dirty="0">
                  <a:solidFill>
                    <a:schemeClr val="bg1"/>
                  </a:solidFill>
                </a:rPr>
                <a:t> </a:t>
              </a: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ATTENDUS</a:t>
              </a:r>
            </a:p>
          </p:txBody>
        </p:sp>
        <p:sp>
          <p:nvSpPr>
            <p:cNvPr id="6" name="3"/>
            <p:cNvSpPr/>
            <p:nvPr/>
          </p:nvSpPr>
          <p:spPr>
            <a:xfrm>
              <a:off x="2708632" y="3708340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3</a:t>
              </a:r>
            </a:p>
          </p:txBody>
        </p:sp>
      </p:grpSp>
      <p:grpSp>
        <p:nvGrpSpPr>
          <p:cNvPr id="7" name="2"/>
          <p:cNvGrpSpPr/>
          <p:nvPr/>
        </p:nvGrpSpPr>
        <p:grpSpPr>
          <a:xfrm>
            <a:off x="2708632" y="2784726"/>
            <a:ext cx="6465686" cy="923330"/>
            <a:chOff x="2708632" y="2784726"/>
            <a:chExt cx="6465686" cy="923330"/>
          </a:xfrm>
        </p:grpSpPr>
        <p:sp>
          <p:nvSpPr>
            <p:cNvPr id="8" name="Titre 2"/>
            <p:cNvSpPr/>
            <p:nvPr/>
          </p:nvSpPr>
          <p:spPr bwMode="auto">
            <a:xfrm>
              <a:off x="3452800" y="2969335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 ORGANISATION</a:t>
              </a:r>
            </a:p>
          </p:txBody>
        </p:sp>
        <p:sp>
          <p:nvSpPr>
            <p:cNvPr id="9" name="2"/>
            <p:cNvSpPr/>
            <p:nvPr/>
          </p:nvSpPr>
          <p:spPr>
            <a:xfrm>
              <a:off x="2708632" y="278472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2</a:t>
              </a:r>
            </a:p>
          </p:txBody>
        </p:sp>
      </p:grpSp>
      <p:grpSp>
        <p:nvGrpSpPr>
          <p:cNvPr id="10" name="1"/>
          <p:cNvGrpSpPr/>
          <p:nvPr/>
        </p:nvGrpSpPr>
        <p:grpSpPr>
          <a:xfrm>
            <a:off x="2708632" y="1845258"/>
            <a:ext cx="6465687" cy="923330"/>
            <a:chOff x="493913" y="1054806"/>
            <a:chExt cx="6465687" cy="923330"/>
          </a:xfrm>
        </p:grpSpPr>
        <p:sp>
          <p:nvSpPr>
            <p:cNvPr id="11" name="Rectangle à coins arrondis 10"/>
            <p:cNvSpPr/>
            <p:nvPr/>
          </p:nvSpPr>
          <p:spPr bwMode="auto">
            <a:xfrm>
              <a:off x="1238082" y="1227240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eaLnBrk="1" fontAlgn="base" hangingPunct="1">
                <a:lnSpc>
                  <a:spcPct val="90000"/>
                </a:lnSpc>
                <a:spcAft>
                  <a:spcPct val="0"/>
                </a:spcAft>
                <a:buClrTx/>
                <a:buSzTx/>
                <a:tabLst/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OBJECTIFS</a:t>
              </a:r>
            </a:p>
          </p:txBody>
        </p:sp>
        <p:sp>
          <p:nvSpPr>
            <p:cNvPr id="12" name="1"/>
            <p:cNvSpPr/>
            <p:nvPr/>
          </p:nvSpPr>
          <p:spPr>
            <a:xfrm>
              <a:off x="493913" y="105480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1</a:t>
              </a:r>
            </a:p>
          </p:txBody>
        </p:sp>
      </p:grpSp>
      <p:pic>
        <p:nvPicPr>
          <p:cNvPr id="15" name="Image à savoi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1993464"/>
            <a:ext cx="622564" cy="62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7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PROJET FS1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000" y="1988841"/>
            <a:ext cx="1862031" cy="186203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915" y="2024845"/>
            <a:ext cx="1790023" cy="179002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853" y="2666933"/>
            <a:ext cx="1147935" cy="114793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5125806" y="3939041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Analyser et concevoir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442700" y="393904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Réaliser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454895" y="3939041"/>
            <a:ext cx="216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Pratiquer le travail en équipe et la gestion de projet</a:t>
            </a:r>
          </a:p>
        </p:txBody>
      </p:sp>
    </p:spTree>
    <p:extLst>
      <p:ext uri="{BB962C8B-B14F-4D97-AF65-F5344CB8AC3E}">
        <p14:creationId xmlns:p14="http://schemas.microsoft.com/office/powerpoint/2010/main" val="35395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r>
              <a:rPr lang="fr-FR" dirty="0"/>
              <a:t>Mettre en œuvre toutes les connaissances et compétences acquises dans son emploi et à l’ETNC lors d’un projet concentré (8 semaines)</a:t>
            </a:r>
          </a:p>
          <a:p>
            <a:endParaRPr lang="fr-FR" dirty="0"/>
          </a:p>
          <a:p>
            <a:r>
              <a:rPr lang="fr-FR" dirty="0"/>
              <a:t>Dans tous les domaines:</a:t>
            </a:r>
          </a:p>
          <a:p>
            <a:pPr lvl="1"/>
            <a:r>
              <a:rPr lang="fr-FR" dirty="0"/>
              <a:t>Analyse, conception, gestion de projet, architecture</a:t>
            </a:r>
          </a:p>
          <a:p>
            <a:pPr lvl="1"/>
            <a:r>
              <a:rPr lang="fr-FR" dirty="0"/>
              <a:t>Sécurité (en collaboration avec le RSSI-P)</a:t>
            </a:r>
          </a:p>
          <a:p>
            <a:pPr lvl="1"/>
            <a:r>
              <a:rPr lang="fr-FR" dirty="0"/>
              <a:t>Développement (mise en œuvre techniques)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856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</a:t>
            </a:r>
          </a:p>
        </p:txBody>
      </p:sp>
      <p:grpSp>
        <p:nvGrpSpPr>
          <p:cNvPr id="4" name="3"/>
          <p:cNvGrpSpPr/>
          <p:nvPr/>
        </p:nvGrpSpPr>
        <p:grpSpPr>
          <a:xfrm>
            <a:off x="2708632" y="3708340"/>
            <a:ext cx="6465686" cy="923330"/>
            <a:chOff x="2708632" y="3708340"/>
            <a:chExt cx="6465686" cy="923330"/>
          </a:xfrm>
        </p:grpSpPr>
        <p:sp>
          <p:nvSpPr>
            <p:cNvPr id="5" name="Titre 3"/>
            <p:cNvSpPr/>
            <p:nvPr/>
          </p:nvSpPr>
          <p:spPr bwMode="auto">
            <a:xfrm>
              <a:off x="3452800" y="3873186"/>
              <a:ext cx="5721518" cy="710585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800" b="1" dirty="0">
                  <a:solidFill>
                    <a:schemeClr val="bg1"/>
                  </a:solidFill>
                </a:rPr>
                <a:t> </a:t>
              </a: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ATTENDUS</a:t>
              </a:r>
            </a:p>
          </p:txBody>
        </p:sp>
        <p:sp>
          <p:nvSpPr>
            <p:cNvPr id="6" name="3"/>
            <p:cNvSpPr/>
            <p:nvPr/>
          </p:nvSpPr>
          <p:spPr>
            <a:xfrm>
              <a:off x="2708632" y="3708340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3</a:t>
              </a:r>
            </a:p>
          </p:txBody>
        </p:sp>
      </p:grpSp>
      <p:grpSp>
        <p:nvGrpSpPr>
          <p:cNvPr id="7" name="2"/>
          <p:cNvGrpSpPr/>
          <p:nvPr/>
        </p:nvGrpSpPr>
        <p:grpSpPr>
          <a:xfrm>
            <a:off x="2708632" y="2784726"/>
            <a:ext cx="6465686" cy="923330"/>
            <a:chOff x="2708632" y="2784726"/>
            <a:chExt cx="6465686" cy="923330"/>
          </a:xfrm>
        </p:grpSpPr>
        <p:sp>
          <p:nvSpPr>
            <p:cNvPr id="8" name="Titre 2"/>
            <p:cNvSpPr/>
            <p:nvPr/>
          </p:nvSpPr>
          <p:spPr bwMode="auto">
            <a:xfrm>
              <a:off x="3452800" y="2969335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 ORGANISATION</a:t>
              </a:r>
            </a:p>
          </p:txBody>
        </p:sp>
        <p:sp>
          <p:nvSpPr>
            <p:cNvPr id="9" name="2"/>
            <p:cNvSpPr/>
            <p:nvPr/>
          </p:nvSpPr>
          <p:spPr>
            <a:xfrm>
              <a:off x="2708632" y="278472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2</a:t>
              </a:r>
            </a:p>
          </p:txBody>
        </p:sp>
      </p:grpSp>
      <p:grpSp>
        <p:nvGrpSpPr>
          <p:cNvPr id="10" name="1"/>
          <p:cNvGrpSpPr/>
          <p:nvPr/>
        </p:nvGrpSpPr>
        <p:grpSpPr>
          <a:xfrm>
            <a:off x="2708632" y="1845258"/>
            <a:ext cx="6465687" cy="923330"/>
            <a:chOff x="493913" y="1054806"/>
            <a:chExt cx="6465687" cy="923330"/>
          </a:xfrm>
        </p:grpSpPr>
        <p:sp>
          <p:nvSpPr>
            <p:cNvPr id="11" name="Rectangle à coins arrondis 10"/>
            <p:cNvSpPr/>
            <p:nvPr/>
          </p:nvSpPr>
          <p:spPr bwMode="auto">
            <a:xfrm>
              <a:off x="1238082" y="1227240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eaLnBrk="1" fontAlgn="base" hangingPunct="1">
                <a:lnSpc>
                  <a:spcPct val="90000"/>
                </a:lnSpc>
                <a:spcAft>
                  <a:spcPct val="0"/>
                </a:spcAft>
                <a:buClrTx/>
                <a:buSzTx/>
                <a:tabLst/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OBJECTIFS</a:t>
              </a:r>
            </a:p>
          </p:txBody>
        </p:sp>
        <p:sp>
          <p:nvSpPr>
            <p:cNvPr id="12" name="1"/>
            <p:cNvSpPr/>
            <p:nvPr/>
          </p:nvSpPr>
          <p:spPr>
            <a:xfrm>
              <a:off x="493913" y="105480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1</a:t>
              </a:r>
            </a:p>
          </p:txBody>
        </p:sp>
      </p:grpSp>
      <p:pic>
        <p:nvPicPr>
          <p:cNvPr id="13" name="Image à savoi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2980522"/>
            <a:ext cx="622564" cy="62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93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1775520" y="2305274"/>
            <a:ext cx="3131703" cy="1086165"/>
            <a:chOff x="1703512" y="2616775"/>
            <a:chExt cx="3131703" cy="1086165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3512" y="2616775"/>
              <a:ext cx="972000" cy="97200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2764556" y="2779610"/>
              <a:ext cx="20706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AMOA:</a:t>
              </a:r>
            </a:p>
            <a:p>
              <a:r>
                <a:rPr lang="fr-FR" dirty="0"/>
                <a:t>SLT SUZANNE</a:t>
              </a:r>
            </a:p>
            <a:p>
              <a:r>
                <a:rPr lang="fr-FR" dirty="0"/>
                <a:t>ADC® COUSINAT</a:t>
              </a:r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4999493" y="4093310"/>
            <a:ext cx="2409205" cy="972000"/>
            <a:chOff x="264132" y="4728532"/>
            <a:chExt cx="2409205" cy="972000"/>
          </a:xfrm>
        </p:grpSpPr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132" y="4728532"/>
              <a:ext cx="972000" cy="972000"/>
            </a:xfrm>
            <a:prstGeom prst="rect">
              <a:avLst/>
            </a:prstGeom>
          </p:spPr>
        </p:pic>
        <p:sp>
          <p:nvSpPr>
            <p:cNvPr id="19" name="ZoneTexte 18"/>
            <p:cNvSpPr txBox="1"/>
            <p:nvPr/>
          </p:nvSpPr>
          <p:spPr>
            <a:xfrm>
              <a:off x="1158674" y="5029866"/>
              <a:ext cx="15146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Appui MOE: formateurs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7680176" y="3731083"/>
            <a:ext cx="4384284" cy="2670690"/>
            <a:chOff x="6294137" y="3991529"/>
            <a:chExt cx="4384284" cy="2670690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6317" y="4532684"/>
              <a:ext cx="972000" cy="972000"/>
            </a:xfrm>
            <a:prstGeom prst="rect">
              <a:avLst/>
            </a:prstGeom>
          </p:spPr>
        </p:pic>
        <p:sp>
          <p:nvSpPr>
            <p:cNvPr id="13" name="ZoneTexte 12"/>
            <p:cNvSpPr txBox="1"/>
            <p:nvPr/>
          </p:nvSpPr>
          <p:spPr>
            <a:xfrm>
              <a:off x="8806213" y="5751732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Équipes </a:t>
              </a:r>
              <a:r>
                <a:rPr lang="fr-FR" dirty="0" err="1"/>
                <a:t>Scrum</a:t>
              </a:r>
              <a:endParaRPr lang="fr-FR" dirty="0"/>
            </a:p>
          </p:txBody>
        </p:sp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4241" y="4666523"/>
              <a:ext cx="972000" cy="972000"/>
            </a:xfrm>
            <a:prstGeom prst="rect">
              <a:avLst/>
            </a:prstGeom>
          </p:spPr>
        </p:pic>
        <p:sp>
          <p:nvSpPr>
            <p:cNvPr id="16" name="ZoneTexte 15"/>
            <p:cNvSpPr txBox="1"/>
            <p:nvPr/>
          </p:nvSpPr>
          <p:spPr>
            <a:xfrm>
              <a:off x="6294137" y="5751732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Scrum</a:t>
              </a:r>
              <a:r>
                <a:rPr lang="fr-FR" dirty="0"/>
                <a:t> Master</a:t>
              </a:r>
            </a:p>
          </p:txBody>
        </p:sp>
        <p:sp>
          <p:nvSpPr>
            <p:cNvPr id="20" name="Flèche courbée vers le haut 19"/>
            <p:cNvSpPr/>
            <p:nvPr/>
          </p:nvSpPr>
          <p:spPr bwMode="auto">
            <a:xfrm>
              <a:off x="7708091" y="6213248"/>
              <a:ext cx="1420564" cy="448971"/>
            </a:xfrm>
            <a:prstGeom prst="curvedUpArrow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22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Flèche courbée vers le haut 20"/>
            <p:cNvSpPr/>
            <p:nvPr/>
          </p:nvSpPr>
          <p:spPr bwMode="auto">
            <a:xfrm rot="10800000">
              <a:off x="7708091" y="3991529"/>
              <a:ext cx="1420564" cy="448971"/>
            </a:xfrm>
            <a:prstGeom prst="curvedUpArrow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22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263352" y="1036470"/>
            <a:ext cx="3744416" cy="1224664"/>
            <a:chOff x="919507" y="845575"/>
            <a:chExt cx="2908349" cy="1224664"/>
          </a:xfrm>
        </p:grpSpPr>
        <p:sp>
          <p:nvSpPr>
            <p:cNvPr id="7" name="ZoneTexte 6"/>
            <p:cNvSpPr txBox="1"/>
            <p:nvPr/>
          </p:nvSpPr>
          <p:spPr>
            <a:xfrm>
              <a:off x="1999627" y="869910"/>
              <a:ext cx="18282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MOA:</a:t>
              </a:r>
            </a:p>
            <a:p>
              <a:r>
                <a:rPr lang="fr-FR" dirty="0"/>
                <a:t>LCL HENRIET</a:t>
              </a:r>
            </a:p>
            <a:p>
              <a:r>
                <a:rPr lang="fr-FR" dirty="0"/>
                <a:t>MAJ POTACZALA</a:t>
              </a:r>
            </a:p>
          </p:txBody>
        </p:sp>
        <p:pic>
          <p:nvPicPr>
            <p:cNvPr id="24" name="Image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507" y="845575"/>
              <a:ext cx="972000" cy="972000"/>
            </a:xfrm>
            <a:prstGeom prst="rect">
              <a:avLst/>
            </a:prstGeom>
          </p:spPr>
        </p:pic>
      </p:grpSp>
      <p:grpSp>
        <p:nvGrpSpPr>
          <p:cNvPr id="26" name="Groupe 25"/>
          <p:cNvGrpSpPr/>
          <p:nvPr/>
        </p:nvGrpSpPr>
        <p:grpSpPr>
          <a:xfrm>
            <a:off x="7904596" y="1299040"/>
            <a:ext cx="3935444" cy="972000"/>
            <a:chOff x="6759339" y="1078676"/>
            <a:chExt cx="3935444" cy="972000"/>
          </a:xfrm>
        </p:grpSpPr>
        <p:pic>
          <p:nvPicPr>
            <p:cNvPr id="22" name="Image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9339" y="1078676"/>
              <a:ext cx="972000" cy="972000"/>
            </a:xfrm>
            <a:prstGeom prst="rect">
              <a:avLst/>
            </a:prstGeom>
          </p:spPr>
        </p:pic>
        <p:sp>
          <p:nvSpPr>
            <p:cNvPr id="23" name="ZoneTexte 22"/>
            <p:cNvSpPr txBox="1"/>
            <p:nvPr/>
          </p:nvSpPr>
          <p:spPr>
            <a:xfrm>
              <a:off x="7731339" y="1380010"/>
              <a:ext cx="2963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MOE: Stage UI33</a:t>
              </a:r>
            </a:p>
          </p:txBody>
        </p:sp>
      </p:grpSp>
      <p:sp>
        <p:nvSpPr>
          <p:cNvPr id="25" name="ZoneTexte 24"/>
          <p:cNvSpPr txBox="1"/>
          <p:nvPr/>
        </p:nvSpPr>
        <p:spPr>
          <a:xfrm>
            <a:off x="8178736" y="3229153"/>
            <a:ext cx="3387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MOE: Stage UI33 - groupes</a:t>
            </a:r>
          </a:p>
        </p:txBody>
      </p:sp>
      <p:grpSp>
        <p:nvGrpSpPr>
          <p:cNvPr id="27" name="Groupe 26"/>
          <p:cNvGrpSpPr/>
          <p:nvPr/>
        </p:nvGrpSpPr>
        <p:grpSpPr>
          <a:xfrm>
            <a:off x="4908407" y="2804413"/>
            <a:ext cx="2591376" cy="972000"/>
            <a:chOff x="6759339" y="1078676"/>
            <a:chExt cx="2622613" cy="972000"/>
          </a:xfrm>
        </p:grpSpPr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9339" y="1078676"/>
              <a:ext cx="972000" cy="972000"/>
            </a:xfrm>
            <a:prstGeom prst="rect">
              <a:avLst/>
            </a:prstGeom>
          </p:spPr>
        </p:pic>
        <p:sp>
          <p:nvSpPr>
            <p:cNvPr id="29" name="ZoneTexte 28"/>
            <p:cNvSpPr txBox="1"/>
            <p:nvPr/>
          </p:nvSpPr>
          <p:spPr>
            <a:xfrm>
              <a:off x="7731340" y="1380010"/>
              <a:ext cx="16506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AMOE: ADJ LEDEME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36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1947368"/>
            <a:ext cx="1141951" cy="114195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70" y="1947368"/>
            <a:ext cx="1141951" cy="114195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737" y="1877054"/>
            <a:ext cx="1282579" cy="128257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434729" y="3648412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09/12/2025 au 26/01/2026</a:t>
            </a:r>
          </a:p>
          <a:p>
            <a:pPr algn="ctr"/>
            <a:r>
              <a:rPr lang="fr-FR" dirty="0"/>
              <a:t>8 semaines =&gt; 4 itérations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9449930" y="3591681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Salle 201/201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1344" y="3648412"/>
            <a:ext cx="341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 groupes de 4 stagiaires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4467513" y="4393061"/>
            <a:ext cx="37112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Revue de sprint 1 : vendredi 19/12</a:t>
            </a:r>
          </a:p>
          <a:p>
            <a:r>
              <a:rPr lang="fr-FR" dirty="0"/>
              <a:t>Revue de sprint 2 : vendredi 09/01</a:t>
            </a:r>
          </a:p>
          <a:p>
            <a:r>
              <a:rPr lang="fr-FR" dirty="0"/>
              <a:t>Revue de sprint 3 : vendredi 16/01</a:t>
            </a:r>
          </a:p>
          <a:p>
            <a:r>
              <a:rPr lang="fr-FR" dirty="0"/>
              <a:t>Revue de sprint 4 : vendredi 23/01</a:t>
            </a:r>
          </a:p>
          <a:p>
            <a:r>
              <a:rPr lang="fr-FR" dirty="0"/>
              <a:t>Soutenances : lundi 26/01 matin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8832304" y="4069895"/>
            <a:ext cx="2963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Utilisation de la PIC obligatoire</a:t>
            </a:r>
          </a:p>
        </p:txBody>
      </p:sp>
    </p:spTree>
    <p:extLst>
      <p:ext uri="{BB962C8B-B14F-4D97-AF65-F5344CB8AC3E}">
        <p14:creationId xmlns:p14="http://schemas.microsoft.com/office/powerpoint/2010/main" val="359693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</a:t>
            </a:r>
          </a:p>
        </p:txBody>
      </p:sp>
      <p:grpSp>
        <p:nvGrpSpPr>
          <p:cNvPr id="4" name="3"/>
          <p:cNvGrpSpPr/>
          <p:nvPr/>
        </p:nvGrpSpPr>
        <p:grpSpPr>
          <a:xfrm>
            <a:off x="2708632" y="3708340"/>
            <a:ext cx="6465686" cy="923330"/>
            <a:chOff x="2708632" y="3708340"/>
            <a:chExt cx="6465686" cy="923330"/>
          </a:xfrm>
        </p:grpSpPr>
        <p:sp>
          <p:nvSpPr>
            <p:cNvPr id="5" name="Titre 3"/>
            <p:cNvSpPr/>
            <p:nvPr/>
          </p:nvSpPr>
          <p:spPr bwMode="auto">
            <a:xfrm>
              <a:off x="3452800" y="3873186"/>
              <a:ext cx="5721518" cy="710585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800" b="1" dirty="0">
                  <a:solidFill>
                    <a:schemeClr val="bg1"/>
                  </a:solidFill>
                </a:rPr>
                <a:t> </a:t>
              </a: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ATTENDUS</a:t>
              </a:r>
            </a:p>
          </p:txBody>
        </p:sp>
        <p:sp>
          <p:nvSpPr>
            <p:cNvPr id="6" name="3"/>
            <p:cNvSpPr/>
            <p:nvPr/>
          </p:nvSpPr>
          <p:spPr>
            <a:xfrm>
              <a:off x="2708632" y="3708340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3</a:t>
              </a:r>
            </a:p>
          </p:txBody>
        </p:sp>
      </p:grpSp>
      <p:grpSp>
        <p:nvGrpSpPr>
          <p:cNvPr id="7" name="2"/>
          <p:cNvGrpSpPr/>
          <p:nvPr/>
        </p:nvGrpSpPr>
        <p:grpSpPr>
          <a:xfrm>
            <a:off x="2708632" y="2784726"/>
            <a:ext cx="6465686" cy="923330"/>
            <a:chOff x="2708632" y="2784726"/>
            <a:chExt cx="6465686" cy="923330"/>
          </a:xfrm>
        </p:grpSpPr>
        <p:sp>
          <p:nvSpPr>
            <p:cNvPr id="8" name="Titre 2"/>
            <p:cNvSpPr/>
            <p:nvPr/>
          </p:nvSpPr>
          <p:spPr bwMode="auto">
            <a:xfrm>
              <a:off x="3452800" y="2969335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defTabSz="1022350" eaLnBrk="1" hangingPunct="1">
                <a:lnSpc>
                  <a:spcPct val="90000"/>
                </a:lnSpc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 ORGANISATION</a:t>
              </a:r>
            </a:p>
          </p:txBody>
        </p:sp>
        <p:sp>
          <p:nvSpPr>
            <p:cNvPr id="9" name="2"/>
            <p:cNvSpPr/>
            <p:nvPr/>
          </p:nvSpPr>
          <p:spPr>
            <a:xfrm>
              <a:off x="2708632" y="278472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2</a:t>
              </a:r>
            </a:p>
          </p:txBody>
        </p:sp>
      </p:grpSp>
      <p:grpSp>
        <p:nvGrpSpPr>
          <p:cNvPr id="10" name="1"/>
          <p:cNvGrpSpPr/>
          <p:nvPr/>
        </p:nvGrpSpPr>
        <p:grpSpPr>
          <a:xfrm>
            <a:off x="2708632" y="1845258"/>
            <a:ext cx="6465687" cy="923330"/>
            <a:chOff x="493913" y="1054806"/>
            <a:chExt cx="6465687" cy="923330"/>
          </a:xfrm>
        </p:grpSpPr>
        <p:sp>
          <p:nvSpPr>
            <p:cNvPr id="11" name="Rectangle à coins arrondis 10"/>
            <p:cNvSpPr/>
            <p:nvPr/>
          </p:nvSpPr>
          <p:spPr bwMode="auto">
            <a:xfrm>
              <a:off x="1238082" y="1227240"/>
              <a:ext cx="5721518" cy="649292"/>
            </a:xfrm>
            <a:prstGeom prst="roundRect">
              <a:avLst/>
            </a:prstGeom>
            <a:solidFill>
              <a:srgbClr val="CCECFF">
                <a:alpha val="1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38100" dir="3180000" algn="l" rotWithShape="0">
                <a:prstClr val="black">
                  <a:alpha val="51000"/>
                </a:prstClr>
              </a:outerShdw>
            </a:effectLst>
            <a:extLst/>
          </p:spPr>
          <p:txBody>
            <a:bodyPr vert="horz" wrap="square" lIns="91440" tIns="108000" rIns="144000" bIns="144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eaLnBrk="1" fontAlgn="base" hangingPunct="1">
                <a:lnSpc>
                  <a:spcPct val="90000"/>
                </a:lnSpc>
                <a:spcAft>
                  <a:spcPct val="0"/>
                </a:spcAft>
                <a:buClrTx/>
                <a:buSzTx/>
                <a:tabLst/>
              </a:pPr>
              <a:r>
                <a:rPr lang="fr-FR" sz="2400" b="1" dirty="0">
                  <a:solidFill>
                    <a:srgbClr val="0C70B7"/>
                  </a:solidFill>
                  <a:ea typeface="+mj-ea"/>
                  <a:cs typeface="Arial" panose="020B0604020202020204" pitchFamily="34" charset="0"/>
                </a:rPr>
                <a:t>OBJECTIFS</a:t>
              </a:r>
            </a:p>
          </p:txBody>
        </p:sp>
        <p:sp>
          <p:nvSpPr>
            <p:cNvPr id="12" name="1"/>
            <p:cNvSpPr/>
            <p:nvPr/>
          </p:nvSpPr>
          <p:spPr>
            <a:xfrm>
              <a:off x="493913" y="1054806"/>
              <a:ext cx="81876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5400" b="0" cap="none" spc="0" dirty="0">
                  <a:ln w="0"/>
                  <a:solidFill>
                    <a:srgbClr val="0C70B7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Bodoni MT Black" panose="02070A03080606020203" pitchFamily="18" charset="0"/>
                </a:rPr>
                <a:t>1</a:t>
              </a:r>
            </a:p>
          </p:txBody>
        </p:sp>
      </p:grpSp>
      <p:pic>
        <p:nvPicPr>
          <p:cNvPr id="13" name="Image à savoi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56" y="3856546"/>
            <a:ext cx="622564" cy="62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2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ATTENDUS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369" y="1988838"/>
            <a:ext cx="997935" cy="99793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1988840"/>
            <a:ext cx="997935" cy="9979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71" y="1988839"/>
            <a:ext cx="997935" cy="99793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702212" y="3284516"/>
            <a:ext cx="234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Analyse et gestion de projet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947661" y="3284516"/>
            <a:ext cx="234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Présentation finale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130471" y="4287112"/>
            <a:ext cx="74888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Fonctionnalités (besoin client/objectif fixé)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Qualité du code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Dossier d’architecture technique (allégé)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Sécurité du code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Prise en compte des contraintes applicatives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56763" y="3287400"/>
            <a:ext cx="234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Technique</a:t>
            </a:r>
          </a:p>
        </p:txBody>
      </p:sp>
    </p:spTree>
    <p:extLst>
      <p:ext uri="{BB962C8B-B14F-4D97-AF65-F5344CB8AC3E}">
        <p14:creationId xmlns:p14="http://schemas.microsoft.com/office/powerpoint/2010/main" val="425690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ATTENDUS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369" y="1988838"/>
            <a:ext cx="997935" cy="99793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1988840"/>
            <a:ext cx="997935" cy="9979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71" y="1988839"/>
            <a:ext cx="997935" cy="99793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702212" y="3284516"/>
            <a:ext cx="234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Analyse et gestion de projet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947661" y="3284516"/>
            <a:ext cx="234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Présentation finale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130471" y="4287112"/>
            <a:ext cx="7488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Dossier d’analyse (DSE) allégé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Organisation en équipe Agile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Présentation et suivi du </a:t>
            </a:r>
            <a:r>
              <a:rPr lang="fr-FR" dirty="0" err="1">
                <a:latin typeface="Gotham Thin" pitchFamily="50" charset="0"/>
              </a:rPr>
              <a:t>Backlog</a:t>
            </a:r>
            <a:endParaRPr lang="fr-FR" dirty="0">
              <a:latin typeface="Gotham Thin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Mise en place des cérémonies </a:t>
            </a:r>
            <a:r>
              <a:rPr lang="fr-FR" dirty="0" err="1">
                <a:latin typeface="Gotham Thin" pitchFamily="50" charset="0"/>
              </a:rPr>
              <a:t>Scrum</a:t>
            </a:r>
            <a:r>
              <a:rPr lang="fr-FR" dirty="0">
                <a:latin typeface="Gotham Thin" pitchFamily="50" charset="0"/>
              </a:rPr>
              <a:t>-XP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56763" y="3284516"/>
            <a:ext cx="234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Technique</a:t>
            </a:r>
          </a:p>
        </p:txBody>
      </p:sp>
    </p:spTree>
    <p:extLst>
      <p:ext uri="{BB962C8B-B14F-4D97-AF65-F5344CB8AC3E}">
        <p14:creationId xmlns:p14="http://schemas.microsoft.com/office/powerpoint/2010/main" val="3269346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ATTENDUS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369" y="1988838"/>
            <a:ext cx="997935" cy="99793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1988840"/>
            <a:ext cx="997935" cy="9979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71" y="1988839"/>
            <a:ext cx="997935" cy="99793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702212" y="3284516"/>
            <a:ext cx="234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Analyse et gestion de projet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947661" y="3284516"/>
            <a:ext cx="234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Présentation finale</a:t>
            </a:r>
          </a:p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130471" y="4287112"/>
            <a:ext cx="7488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Présenter son organisation et proposer son produit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Répondre aux questions (clients fonctionnels et techniciens)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Gotham Thin" pitchFamily="50" charset="0"/>
              </a:rPr>
              <a:t>Argumenter les choix pour convaincre de sa solution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56763" y="3284516"/>
            <a:ext cx="234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Technique</a:t>
            </a:r>
          </a:p>
          <a:p>
            <a:pPr algn="ctr"/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658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>
            <a:extLst>
              <a:ext uri="{FF2B5EF4-FFF2-40B4-BE49-F238E27FC236}">
                <a16:creationId xmlns:a16="http://schemas.microsoft.com/office/drawing/2014/main" id="{58F2E936-A02C-46AF-AA8B-E87215E435BF}"/>
              </a:ext>
            </a:extLst>
          </p:cNvPr>
          <p:cNvGrpSpPr>
            <a:grpSpLocks/>
          </p:cNvGrpSpPr>
          <p:nvPr/>
        </p:nvGrpSpPr>
        <p:grpSpPr bwMode="auto">
          <a:xfrm>
            <a:off x="2424113" y="3357563"/>
            <a:ext cx="8062912" cy="2811462"/>
            <a:chOff x="567" y="1893"/>
            <a:chExt cx="5079" cy="1771"/>
          </a:xfrm>
        </p:grpSpPr>
        <p:sp>
          <p:nvSpPr>
            <p:cNvPr id="8200" name="Text Box 4">
              <a:extLst>
                <a:ext uri="{FF2B5EF4-FFF2-40B4-BE49-F238E27FC236}">
                  <a16:creationId xmlns:a16="http://schemas.microsoft.com/office/drawing/2014/main" id="{B2C56F86-C51D-4498-B59D-D5DEC3F46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893"/>
              <a:ext cx="507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sz="2400" b="1">
                  <a:solidFill>
                    <a:srgbClr val="002060"/>
                  </a:solidFill>
                  <a:latin typeface="Verdana" panose="020B0604030504040204" pitchFamily="34" charset="0"/>
                </a:rPr>
                <a:t>Organisation</a:t>
              </a:r>
            </a:p>
          </p:txBody>
        </p:sp>
        <p:pic>
          <p:nvPicPr>
            <p:cNvPr id="8201" name="Picture 5">
              <a:extLst>
                <a:ext uri="{FF2B5EF4-FFF2-40B4-BE49-F238E27FC236}">
                  <a16:creationId xmlns:a16="http://schemas.microsoft.com/office/drawing/2014/main" id="{0BD5CACC-E185-473B-9475-B819ACB3E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347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02" name="Rectangle 6">
              <a:extLst>
                <a:ext uri="{FF2B5EF4-FFF2-40B4-BE49-F238E27FC236}">
                  <a16:creationId xmlns:a16="http://schemas.microsoft.com/office/drawing/2014/main" id="{355A2F6E-6CEF-4AE9-AD30-567EB5DC8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301"/>
              <a:ext cx="4943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Une application à présenter (sous forme de scénarios)</a:t>
              </a:r>
            </a:p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(une vidéo en secours)</a:t>
              </a:r>
            </a:p>
          </p:txBody>
        </p:sp>
        <p:pic>
          <p:nvPicPr>
            <p:cNvPr id="8203" name="Picture 7">
              <a:extLst>
                <a:ext uri="{FF2B5EF4-FFF2-40B4-BE49-F238E27FC236}">
                  <a16:creationId xmlns:a16="http://schemas.microsoft.com/office/drawing/2014/main" id="{AF076A64-9FCA-4D17-9338-28D0848FB1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879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04" name="Rectangle 8">
              <a:extLst>
                <a:ext uri="{FF2B5EF4-FFF2-40B4-BE49-F238E27FC236}">
                  <a16:creationId xmlns:a16="http://schemas.microsoft.com/office/drawing/2014/main" id="{DA9B2BAE-3C27-41D4-BFF8-31725D84A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833"/>
              <a:ext cx="4943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Présentation du groupe, du projet, de l’organisation</a:t>
              </a:r>
            </a:p>
            <a:p>
              <a:pPr>
                <a:buSzPct val="100000"/>
              </a:pPr>
              <a:r>
                <a:rPr lang="fr-FR" altLang="fr-FR" sz="1600" b="1">
                  <a:solidFill>
                    <a:srgbClr val="0070C0"/>
                  </a:solidFill>
                  <a:latin typeface="Verdana" panose="020B0604030504040204" pitchFamily="34" charset="0"/>
                </a:rPr>
                <a:t>(outil de présentation : PPT, Prezi, Emaze…)</a:t>
              </a:r>
            </a:p>
          </p:txBody>
        </p:sp>
        <p:pic>
          <p:nvPicPr>
            <p:cNvPr id="8205" name="Picture 9">
              <a:extLst>
                <a:ext uri="{FF2B5EF4-FFF2-40B4-BE49-F238E27FC236}">
                  <a16:creationId xmlns:a16="http://schemas.microsoft.com/office/drawing/2014/main" id="{723AB461-9F14-46D4-B424-707524C15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3476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06" name="Rectangle 10">
              <a:extLst>
                <a:ext uri="{FF2B5EF4-FFF2-40B4-BE49-F238E27FC236}">
                  <a16:creationId xmlns:a16="http://schemas.microsoft.com/office/drawing/2014/main" id="{72F9129F-362C-4C5C-A415-EA05B6426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3430"/>
              <a:ext cx="494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Temps de parole équitable</a:t>
              </a:r>
            </a:p>
          </p:txBody>
        </p:sp>
      </p:grpSp>
      <p:sp>
        <p:nvSpPr>
          <p:cNvPr id="8195" name="Rectangle 13">
            <a:extLst>
              <a:ext uri="{FF2B5EF4-FFF2-40B4-BE49-F238E27FC236}">
                <a16:creationId xmlns:a16="http://schemas.microsoft.com/office/drawing/2014/main" id="{E3C0C08F-74C9-43CA-A5F9-369EA5AE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1296989"/>
            <a:ext cx="80645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buSzPct val="100000"/>
            </a:pPr>
            <a:r>
              <a:rPr lang="fr-FR" altLang="fr-FR" sz="2400" b="1">
                <a:solidFill>
                  <a:srgbClr val="002060"/>
                </a:solidFill>
                <a:latin typeface="Verdana" panose="020B0604030504040204" pitchFamily="34" charset="0"/>
              </a:rPr>
              <a:t>Durée</a:t>
            </a:r>
          </a:p>
        </p:txBody>
      </p:sp>
      <p:pic>
        <p:nvPicPr>
          <p:cNvPr id="8196" name="Picture 15">
            <a:extLst>
              <a:ext uri="{FF2B5EF4-FFF2-40B4-BE49-F238E27FC236}">
                <a16:creationId xmlns:a16="http://schemas.microsoft.com/office/drawing/2014/main" id="{7F1D3190-30AE-4389-AEF7-D948C24D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017713"/>
            <a:ext cx="2159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7" name="Rectangle 16">
            <a:extLst>
              <a:ext uri="{FF2B5EF4-FFF2-40B4-BE49-F238E27FC236}">
                <a16:creationId xmlns:a16="http://schemas.microsoft.com/office/drawing/2014/main" id="{87AB0C53-242C-48C8-A4DA-0748E631D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1944688"/>
            <a:ext cx="7848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buSzPct val="100000"/>
            </a:pPr>
            <a:r>
              <a:rPr lang="fr-FR" altLang="fr-FR" b="1">
                <a:solidFill>
                  <a:srgbClr val="0070C0"/>
                </a:solidFill>
                <a:latin typeface="Verdana" panose="020B0604030504040204" pitchFamily="34" charset="0"/>
              </a:rPr>
              <a:t>30/35 mins de présentation dont 10-15min de démo</a:t>
            </a:r>
          </a:p>
        </p:txBody>
      </p:sp>
      <p:pic>
        <p:nvPicPr>
          <p:cNvPr id="8198" name="Picture 17">
            <a:extLst>
              <a:ext uri="{FF2B5EF4-FFF2-40B4-BE49-F238E27FC236}">
                <a16:creationId xmlns:a16="http://schemas.microsoft.com/office/drawing/2014/main" id="{D0267DAB-23AC-4609-870E-00F58E642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449513"/>
            <a:ext cx="2159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9" name="Rectangle 18">
            <a:extLst>
              <a:ext uri="{FF2B5EF4-FFF2-40B4-BE49-F238E27FC236}">
                <a16:creationId xmlns:a16="http://schemas.microsoft.com/office/drawing/2014/main" id="{04EBC4BF-A7AB-4148-9929-7E5770A71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2376488"/>
            <a:ext cx="7848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buSzPct val="100000"/>
            </a:pPr>
            <a:r>
              <a:rPr lang="fr-FR" altLang="fr-FR" b="1">
                <a:solidFill>
                  <a:srgbClr val="0070C0"/>
                </a:solidFill>
                <a:latin typeface="Verdana" panose="020B0604030504040204" pitchFamily="34" charset="0"/>
              </a:rPr>
              <a:t>20 mins de questions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39B3B8C-E00F-46F8-B238-8A88BA43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390" y="145561"/>
            <a:ext cx="9407610" cy="648677"/>
          </a:xfrm>
        </p:spPr>
        <p:txBody>
          <a:bodyPr/>
          <a:lstStyle/>
          <a:p>
            <a:r>
              <a:rPr lang="fr-FR" dirty="0"/>
              <a:t>RESTITUTION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230DF7C4-09BB-4AD3-95E7-842218E9CFA0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1125539"/>
            <a:ext cx="8062912" cy="1025525"/>
            <a:chOff x="566" y="1316"/>
            <a:chExt cx="5079" cy="672"/>
          </a:xfrm>
        </p:grpSpPr>
        <p:sp>
          <p:nvSpPr>
            <p:cNvPr id="10268" name="Text Box 4">
              <a:extLst>
                <a:ext uri="{FF2B5EF4-FFF2-40B4-BE49-F238E27FC236}">
                  <a16:creationId xmlns:a16="http://schemas.microsoft.com/office/drawing/2014/main" id="{F3B889BD-A5E2-44DB-89D8-6F1012313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1316"/>
              <a:ext cx="5079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sz="2400" b="1">
                  <a:solidFill>
                    <a:srgbClr val="002060"/>
                  </a:solidFill>
                  <a:latin typeface="Verdana" panose="020B0604030504040204" pitchFamily="34" charset="0"/>
                </a:rPr>
                <a:t>Déroulé classique</a:t>
              </a:r>
            </a:p>
          </p:txBody>
        </p:sp>
        <p:pic>
          <p:nvPicPr>
            <p:cNvPr id="10269" name="Picture 5">
              <a:extLst>
                <a:ext uri="{FF2B5EF4-FFF2-40B4-BE49-F238E27FC236}">
                  <a16:creationId xmlns:a16="http://schemas.microsoft.com/office/drawing/2014/main" id="{608388FF-3E77-4ED0-9670-64F795C446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1791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70" name="Rectangle 6">
              <a:extLst>
                <a:ext uri="{FF2B5EF4-FFF2-40B4-BE49-F238E27FC236}">
                  <a16:creationId xmlns:a16="http://schemas.microsoft.com/office/drawing/2014/main" id="{D3B1E6D9-A206-4577-96DE-5EB738EA4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1745"/>
              <a:ext cx="4853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Présentation du groupe et de son historique (fictif ou pas)</a:t>
              </a:r>
            </a:p>
          </p:txBody>
        </p:sp>
      </p:grpSp>
      <p:grpSp>
        <p:nvGrpSpPr>
          <p:cNvPr id="26631" name="Group 7">
            <a:extLst>
              <a:ext uri="{FF2B5EF4-FFF2-40B4-BE49-F238E27FC236}">
                <a16:creationId xmlns:a16="http://schemas.microsoft.com/office/drawing/2014/main" id="{4367E14E-C436-453E-BEFF-1C99EECBF8E9}"/>
              </a:ext>
            </a:extLst>
          </p:cNvPr>
          <p:cNvGrpSpPr>
            <a:grpSpLocks/>
          </p:cNvGrpSpPr>
          <p:nvPr/>
        </p:nvGrpSpPr>
        <p:grpSpPr bwMode="auto">
          <a:xfrm>
            <a:off x="2352676" y="2968625"/>
            <a:ext cx="7845425" cy="649288"/>
            <a:chOff x="567" y="2025"/>
            <a:chExt cx="4942" cy="409"/>
          </a:xfrm>
        </p:grpSpPr>
        <p:pic>
          <p:nvPicPr>
            <p:cNvPr id="10266" name="Picture 8">
              <a:extLst>
                <a:ext uri="{FF2B5EF4-FFF2-40B4-BE49-F238E27FC236}">
                  <a16:creationId xmlns:a16="http://schemas.microsoft.com/office/drawing/2014/main" id="{802F6668-27FC-4F1B-A5BA-3A8A1C182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071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67" name="Rectangle 9">
              <a:extLst>
                <a:ext uri="{FF2B5EF4-FFF2-40B4-BE49-F238E27FC236}">
                  <a16:creationId xmlns:a16="http://schemas.microsoft.com/office/drawing/2014/main" id="{9BF40733-441E-4FC2-8A33-40E35A10E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025"/>
              <a:ext cx="4806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Expliquer la démarche suivie et l’organisation de votre équipe (méthodes, outils, normes appliquées…)</a:t>
              </a:r>
            </a:p>
          </p:txBody>
        </p:sp>
      </p:grpSp>
      <p:grpSp>
        <p:nvGrpSpPr>
          <p:cNvPr id="26634" name="Group 10">
            <a:extLst>
              <a:ext uri="{FF2B5EF4-FFF2-40B4-BE49-F238E27FC236}">
                <a16:creationId xmlns:a16="http://schemas.microsoft.com/office/drawing/2014/main" id="{BED5FA58-F0ED-487D-A799-EAEC1C7E35A4}"/>
              </a:ext>
            </a:extLst>
          </p:cNvPr>
          <p:cNvGrpSpPr>
            <a:grpSpLocks/>
          </p:cNvGrpSpPr>
          <p:nvPr/>
        </p:nvGrpSpPr>
        <p:grpSpPr bwMode="auto">
          <a:xfrm>
            <a:off x="2352676" y="4337050"/>
            <a:ext cx="8062913" cy="649288"/>
            <a:chOff x="567" y="2656"/>
            <a:chExt cx="5079" cy="409"/>
          </a:xfrm>
        </p:grpSpPr>
        <p:pic>
          <p:nvPicPr>
            <p:cNvPr id="10264" name="Picture 11">
              <a:extLst>
                <a:ext uri="{FF2B5EF4-FFF2-40B4-BE49-F238E27FC236}">
                  <a16:creationId xmlns:a16="http://schemas.microsoft.com/office/drawing/2014/main" id="{85C953F7-581A-4206-9134-519C84B0FA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702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65" name="Rectangle 12">
              <a:extLst>
                <a:ext uri="{FF2B5EF4-FFF2-40B4-BE49-F238E27FC236}">
                  <a16:creationId xmlns:a16="http://schemas.microsoft.com/office/drawing/2014/main" id="{36941325-10CD-4DA1-81E9-AE54B46D0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656"/>
              <a:ext cx="4943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Montrer les fonctionnalités développées, l’ergonomie, la robustesse, la sécurité, la qualité du produit réalisé </a:t>
              </a:r>
            </a:p>
          </p:txBody>
        </p:sp>
      </p:grpSp>
      <p:grpSp>
        <p:nvGrpSpPr>
          <p:cNvPr id="26637" name="Group 13">
            <a:extLst>
              <a:ext uri="{FF2B5EF4-FFF2-40B4-BE49-F238E27FC236}">
                <a16:creationId xmlns:a16="http://schemas.microsoft.com/office/drawing/2014/main" id="{3B6AD665-C914-4989-A19E-DF597991FE3F}"/>
              </a:ext>
            </a:extLst>
          </p:cNvPr>
          <p:cNvGrpSpPr>
            <a:grpSpLocks/>
          </p:cNvGrpSpPr>
          <p:nvPr/>
        </p:nvGrpSpPr>
        <p:grpSpPr bwMode="auto">
          <a:xfrm>
            <a:off x="2352676" y="5056189"/>
            <a:ext cx="8061325" cy="649287"/>
            <a:chOff x="567" y="3023"/>
            <a:chExt cx="5078" cy="409"/>
          </a:xfrm>
        </p:grpSpPr>
        <p:pic>
          <p:nvPicPr>
            <p:cNvPr id="10262" name="Picture 14">
              <a:extLst>
                <a:ext uri="{FF2B5EF4-FFF2-40B4-BE49-F238E27FC236}">
                  <a16:creationId xmlns:a16="http://schemas.microsoft.com/office/drawing/2014/main" id="{790F1223-3B40-4E45-8D78-08B42DCD9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3069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63" name="Rectangle 15">
              <a:extLst>
                <a:ext uri="{FF2B5EF4-FFF2-40B4-BE49-F238E27FC236}">
                  <a16:creationId xmlns:a16="http://schemas.microsoft.com/office/drawing/2014/main" id="{9F3DA391-7151-4E4D-AB7F-464D2D040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3023"/>
              <a:ext cx="4942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Faire un bilan du projet (avancement, RAF, points forts)</a:t>
              </a:r>
            </a:p>
            <a:p>
              <a:pPr algn="just"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et une rétrospective (à conserver / à rejeter / à améliorer)</a:t>
              </a:r>
            </a:p>
          </p:txBody>
        </p:sp>
      </p:grpSp>
      <p:grpSp>
        <p:nvGrpSpPr>
          <p:cNvPr id="26642" name="Group 18">
            <a:extLst>
              <a:ext uri="{FF2B5EF4-FFF2-40B4-BE49-F238E27FC236}">
                <a16:creationId xmlns:a16="http://schemas.microsoft.com/office/drawing/2014/main" id="{D7B9579F-1A04-43A4-A38E-CD5EDEA76811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6137275"/>
            <a:ext cx="8569325" cy="420688"/>
            <a:chOff x="113" y="3593"/>
            <a:chExt cx="5398" cy="265"/>
          </a:xfrm>
        </p:grpSpPr>
        <p:sp>
          <p:nvSpPr>
            <p:cNvPr id="10260" name="Rectangle 19">
              <a:extLst>
                <a:ext uri="{FF2B5EF4-FFF2-40B4-BE49-F238E27FC236}">
                  <a16:creationId xmlns:a16="http://schemas.microsoft.com/office/drawing/2014/main" id="{738B6A93-0284-414B-B17A-85603931A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635"/>
              <a:ext cx="5079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sz="1600" b="1">
                  <a:solidFill>
                    <a:srgbClr val="CC0000"/>
                  </a:solidFill>
                  <a:latin typeface="Verdana" panose="020B0604030504040204" pitchFamily="34" charset="0"/>
                </a:rPr>
                <a:t>Vous devez convaincre le client de la qualité de votre solution !</a:t>
              </a:r>
              <a:r>
                <a:rPr lang="fr-FR" altLang="fr-FR" sz="1600" b="1">
                  <a:solidFill>
                    <a:srgbClr val="FF3300"/>
                  </a:solidFill>
                  <a:latin typeface="Verdana" panose="020B0604030504040204" pitchFamily="34" charset="0"/>
                </a:rPr>
                <a:t> </a:t>
              </a:r>
            </a:p>
          </p:txBody>
        </p:sp>
        <p:pic>
          <p:nvPicPr>
            <p:cNvPr id="10261" name="Picture 20">
              <a:extLst>
                <a:ext uri="{FF2B5EF4-FFF2-40B4-BE49-F238E27FC236}">
                  <a16:creationId xmlns:a16="http://schemas.microsoft.com/office/drawing/2014/main" id="{B76782FF-5CDE-49C4-80FF-EF6E04138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3593"/>
              <a:ext cx="31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2" name="Group 10">
            <a:extLst>
              <a:ext uri="{FF2B5EF4-FFF2-40B4-BE49-F238E27FC236}">
                <a16:creationId xmlns:a16="http://schemas.microsoft.com/office/drawing/2014/main" id="{354CECCE-709B-4FAE-8D8F-01435FA1825A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3760789"/>
            <a:ext cx="8062912" cy="371475"/>
            <a:chOff x="567" y="2656"/>
            <a:chExt cx="5079" cy="234"/>
          </a:xfrm>
        </p:grpSpPr>
        <p:pic>
          <p:nvPicPr>
            <p:cNvPr id="10258" name="Picture 11">
              <a:extLst>
                <a:ext uri="{FF2B5EF4-FFF2-40B4-BE49-F238E27FC236}">
                  <a16:creationId xmlns:a16="http://schemas.microsoft.com/office/drawing/2014/main" id="{36DFC4E5-DF85-4AB1-9217-A9F2DB35F9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702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59" name="Rectangle 12">
              <a:extLst>
                <a:ext uri="{FF2B5EF4-FFF2-40B4-BE49-F238E27FC236}">
                  <a16:creationId xmlns:a16="http://schemas.microsoft.com/office/drawing/2014/main" id="{765C8C4D-06E8-4447-A15F-EF5394554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656"/>
              <a:ext cx="494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Expliciter vos choix techniques et l’architecture retenue</a:t>
              </a:r>
            </a:p>
          </p:txBody>
        </p:sp>
      </p:grpSp>
      <p:grpSp>
        <p:nvGrpSpPr>
          <p:cNvPr id="25" name="Group 7">
            <a:extLst>
              <a:ext uri="{FF2B5EF4-FFF2-40B4-BE49-F238E27FC236}">
                <a16:creationId xmlns:a16="http://schemas.microsoft.com/office/drawing/2014/main" id="{0005940A-CB0D-401E-9D16-C2AA75297E9D}"/>
              </a:ext>
            </a:extLst>
          </p:cNvPr>
          <p:cNvGrpSpPr>
            <a:grpSpLocks/>
          </p:cNvGrpSpPr>
          <p:nvPr/>
        </p:nvGrpSpPr>
        <p:grpSpPr bwMode="auto">
          <a:xfrm>
            <a:off x="2352676" y="2247900"/>
            <a:ext cx="7845425" cy="649288"/>
            <a:chOff x="567" y="2161"/>
            <a:chExt cx="4942" cy="409"/>
          </a:xfrm>
        </p:grpSpPr>
        <p:pic>
          <p:nvPicPr>
            <p:cNvPr id="10256" name="Picture 8">
              <a:extLst>
                <a:ext uri="{FF2B5EF4-FFF2-40B4-BE49-F238E27FC236}">
                  <a16:creationId xmlns:a16="http://schemas.microsoft.com/office/drawing/2014/main" id="{BC7621EE-7D98-4E77-ABED-6B5C0CEAE2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207"/>
              <a:ext cx="135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57" name="Rectangle 9">
              <a:extLst>
                <a:ext uri="{FF2B5EF4-FFF2-40B4-BE49-F238E27FC236}">
                  <a16:creationId xmlns:a16="http://schemas.microsoft.com/office/drawing/2014/main" id="{94F4B42C-D0E1-4D7D-8EB5-4F9C99C28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161"/>
              <a:ext cx="4806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algn="just">
                <a:buSzPct val="100000"/>
              </a:pPr>
              <a:r>
                <a:rPr lang="fr-FR" altLang="fr-FR" b="1">
                  <a:solidFill>
                    <a:srgbClr val="0070C0"/>
                  </a:solidFill>
                  <a:latin typeface="Verdana" panose="020B0604030504040204" pitchFamily="34" charset="0"/>
                </a:rPr>
                <a:t>Présentation du contexte du projet (problématique métier et objectifs du client)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7DB044D4-D11D-4C51-9394-B8C63357FDD7}"/>
              </a:ext>
            </a:extLst>
          </p:cNvPr>
          <p:cNvGrpSpPr>
            <a:grpSpLocks/>
          </p:cNvGrpSpPr>
          <p:nvPr/>
        </p:nvGrpSpPr>
        <p:grpSpPr bwMode="auto">
          <a:xfrm>
            <a:off x="10056814" y="1804988"/>
            <a:ext cx="638175" cy="3636962"/>
            <a:chOff x="8604448" y="1617663"/>
            <a:chExt cx="638483" cy="3636821"/>
          </a:xfrm>
        </p:grpSpPr>
        <p:sp>
          <p:nvSpPr>
            <p:cNvPr id="10250" name="ZoneTexte 1">
              <a:extLst>
                <a:ext uri="{FF2B5EF4-FFF2-40B4-BE49-F238E27FC236}">
                  <a16:creationId xmlns:a16="http://schemas.microsoft.com/office/drawing/2014/main" id="{C61707EC-9D63-4F45-B040-2CE932F37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8875" y="1617663"/>
              <a:ext cx="5040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1’</a:t>
              </a:r>
            </a:p>
          </p:txBody>
        </p:sp>
        <p:sp>
          <p:nvSpPr>
            <p:cNvPr id="10251" name="ZoneTexte 27">
              <a:extLst>
                <a:ext uri="{FF2B5EF4-FFF2-40B4-BE49-F238E27FC236}">
                  <a16:creationId xmlns:a16="http://schemas.microsoft.com/office/drawing/2014/main" id="{9C66EDA3-7F15-43F3-A0E9-7892E91E6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8875" y="2185164"/>
              <a:ext cx="5040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2’</a:t>
              </a:r>
            </a:p>
          </p:txBody>
        </p:sp>
        <p:sp>
          <p:nvSpPr>
            <p:cNvPr id="10252" name="ZoneTexte 28">
              <a:extLst>
                <a:ext uri="{FF2B5EF4-FFF2-40B4-BE49-F238E27FC236}">
                  <a16:creationId xmlns:a16="http://schemas.microsoft.com/office/drawing/2014/main" id="{D403F882-AAE5-4142-9C46-1DA2ABB59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9410" y="3573463"/>
              <a:ext cx="5040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6’</a:t>
              </a:r>
            </a:p>
          </p:txBody>
        </p:sp>
        <p:sp>
          <p:nvSpPr>
            <p:cNvPr id="10253" name="ZoneTexte 29">
              <a:extLst>
                <a:ext uri="{FF2B5EF4-FFF2-40B4-BE49-F238E27FC236}">
                  <a16:creationId xmlns:a16="http://schemas.microsoft.com/office/drawing/2014/main" id="{24456AA5-79E5-4201-83B5-C9A453C54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8875" y="3030478"/>
              <a:ext cx="5040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6’</a:t>
              </a:r>
            </a:p>
          </p:txBody>
        </p:sp>
        <p:sp>
          <p:nvSpPr>
            <p:cNvPr id="10254" name="ZoneTexte 30">
              <a:extLst>
                <a:ext uri="{FF2B5EF4-FFF2-40B4-BE49-F238E27FC236}">
                  <a16:creationId xmlns:a16="http://schemas.microsoft.com/office/drawing/2014/main" id="{0D869BBE-8EB6-450C-B1A4-63CDF2FFB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4448" y="4274314"/>
              <a:ext cx="6264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12’</a:t>
              </a:r>
            </a:p>
          </p:txBody>
        </p:sp>
        <p:sp>
          <p:nvSpPr>
            <p:cNvPr id="10255" name="ZoneTexte 31">
              <a:extLst>
                <a:ext uri="{FF2B5EF4-FFF2-40B4-BE49-F238E27FC236}">
                  <a16:creationId xmlns:a16="http://schemas.microsoft.com/office/drawing/2014/main" id="{177D07FA-61A7-4803-AF73-12BD91259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5548" y="4854374"/>
              <a:ext cx="4957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fr-FR" altLang="fr-FR" sz="2000" b="1" i="1"/>
                <a:t>3’</a:t>
              </a:r>
            </a:p>
          </p:txBody>
        </p:sp>
      </p:grpSp>
      <p:sp>
        <p:nvSpPr>
          <p:cNvPr id="31" name="Titre 1">
            <a:extLst>
              <a:ext uri="{FF2B5EF4-FFF2-40B4-BE49-F238E27FC236}">
                <a16:creationId xmlns:a16="http://schemas.microsoft.com/office/drawing/2014/main" id="{27F9630D-0889-4394-9B01-CBA8D5F3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390" y="145561"/>
            <a:ext cx="9407610" cy="648677"/>
          </a:xfrm>
        </p:spPr>
        <p:txBody>
          <a:bodyPr/>
          <a:lstStyle/>
          <a:p>
            <a:r>
              <a:rPr lang="fr-FR" dirty="0"/>
              <a:t>RESTITUTION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RESTITUTION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02194"/>
              </p:ext>
            </p:extLst>
          </p:nvPr>
        </p:nvGraphicFramePr>
        <p:xfrm>
          <a:off x="191344" y="980728"/>
          <a:ext cx="11881321" cy="2520127"/>
        </p:xfrm>
        <a:graphic>
          <a:graphicData uri="http://schemas.openxmlformats.org/drawingml/2006/table">
            <a:tbl>
              <a:tblPr/>
              <a:tblGrid>
                <a:gridCol w="3083127">
                  <a:extLst>
                    <a:ext uri="{9D8B030D-6E8A-4147-A177-3AD203B41FA5}">
                      <a16:colId xmlns:a16="http://schemas.microsoft.com/office/drawing/2014/main" val="2534532485"/>
                    </a:ext>
                  </a:extLst>
                </a:gridCol>
                <a:gridCol w="1428767">
                  <a:extLst>
                    <a:ext uri="{9D8B030D-6E8A-4147-A177-3AD203B41FA5}">
                      <a16:colId xmlns:a16="http://schemas.microsoft.com/office/drawing/2014/main" val="2279372208"/>
                    </a:ext>
                  </a:extLst>
                </a:gridCol>
                <a:gridCol w="1032722">
                  <a:extLst>
                    <a:ext uri="{9D8B030D-6E8A-4147-A177-3AD203B41FA5}">
                      <a16:colId xmlns:a16="http://schemas.microsoft.com/office/drawing/2014/main" val="1298717261"/>
                    </a:ext>
                  </a:extLst>
                </a:gridCol>
                <a:gridCol w="6336705">
                  <a:extLst>
                    <a:ext uri="{9D8B030D-6E8A-4147-A177-3AD203B41FA5}">
                      <a16:colId xmlns:a16="http://schemas.microsoft.com/office/drawing/2014/main" val="244058534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Matière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Note collective ou individuelle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modalités de calcul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Eléments appréciés (notamment)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872436"/>
                  </a:ext>
                </a:extLst>
              </a:tr>
              <a:tr h="4050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Projet de synthèse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collective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 70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Présentation générale, </a:t>
                      </a:r>
                      <a:r>
                        <a:rPr lang="fr-F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tilisation et qualité des supports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Partage du temps de parole / Respect du temps imparti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Organisation du groupe / Présentation de l'architecture retenue et des choix techniques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Démonstration dynamique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Conclusion (points forts, évolutions possibles, rétrospective du groupe)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Efficacité et force de persuasion du projet</a:t>
                      </a:r>
                    </a:p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Prestation du groupe face aux questions (partage des réponses)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524491"/>
                  </a:ext>
                </a:extLst>
              </a:tr>
              <a:tr h="40506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individuelle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 30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Restitution finale : aisance orale, tenue, réponses questions ciblées, …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99401"/>
                  </a:ext>
                </a:extLst>
              </a:tr>
              <a:tr h="25540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finale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 20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2000"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(Individuelle + Collective) / 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599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13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598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theme1.xml><?xml version="1.0" encoding="utf-8"?>
<a:theme xmlns:a="http://schemas.openxmlformats.org/drawingml/2006/main" name="Thème ETNC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ETNC " id="{702667DE-D7FF-4289-9C0C-789A5C26377D}" vid="{A755C6A3-E4AC-4AE7-BCFE-A84E88B782A8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etrs 2020</Template>
  <TotalTime>15242</TotalTime>
  <Words>737</Words>
  <Application>Microsoft Office PowerPoint</Application>
  <PresentationFormat>Grand écran</PresentationFormat>
  <Paragraphs>154</Paragraphs>
  <Slides>17</Slides>
  <Notes>4</Notes>
  <HiddenSlides>1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Bodoni MT Black</vt:lpstr>
      <vt:lpstr>Gotham Thin</vt:lpstr>
      <vt:lpstr>Times New Roman</vt:lpstr>
      <vt:lpstr>Verdana</vt:lpstr>
      <vt:lpstr>WenQuanYi Micro Hei</vt:lpstr>
      <vt:lpstr>Wingdings</vt:lpstr>
      <vt:lpstr>Thème ETNC </vt:lpstr>
      <vt:lpstr>Projet de cursus UI33 Assistant Tactique Intelligent Organisation</vt:lpstr>
      <vt:lpstr>Présentation PowerPoint</vt:lpstr>
      <vt:lpstr>PLAN</vt:lpstr>
      <vt:lpstr>PLAN</vt:lpstr>
      <vt:lpstr>OBJECTIFS PROJET FS1</vt:lpstr>
      <vt:lpstr>OBJECTIFS</vt:lpstr>
      <vt:lpstr>PLAN</vt:lpstr>
      <vt:lpstr>ORGANISATION</vt:lpstr>
      <vt:lpstr>ORGANISATION</vt:lpstr>
      <vt:lpstr>PLAN</vt:lpstr>
      <vt:lpstr>ATTENDUS</vt:lpstr>
      <vt:lpstr>ATTENDUS</vt:lpstr>
      <vt:lpstr>ATTENDUS</vt:lpstr>
      <vt:lpstr>RESTITUTION</vt:lpstr>
      <vt:lpstr>RESTITUTION</vt:lpstr>
      <vt:lpstr>RESTITUTION</vt:lpstr>
      <vt:lpstr>Présentation PowerPoint</vt:lpstr>
    </vt:vector>
  </TitlesOfParts>
  <Company>ESAT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ADJ FICHET</dc:creator>
  <cp:lastModifiedBy>Thiébaut HENRIET</cp:lastModifiedBy>
  <cp:revision>423</cp:revision>
  <cp:lastPrinted>1601-01-01T00:00:00Z</cp:lastPrinted>
  <dcterms:created xsi:type="dcterms:W3CDTF">2006-03-28T14:39:26Z</dcterms:created>
  <dcterms:modified xsi:type="dcterms:W3CDTF">2025-12-08T15:06:08Z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2</vt:i4>
  </property>
  <property fmtid="{D5CDD505-2E9C-101B-9397-08002B2CF9AE}" pid="3" name="LCID">
    <vt:i4>1036</vt:i4>
  </property>
</Properties>
</file>